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BLUESTOCK MUTUAL FUND ANALYTICS</a:t>
            </a:r>
          </a:p>
          <a:p>
            <a:pPr>
              <a:spcBef>
                <a:spcPts val="1000"/>
              </a:spcBef>
              <a:defRPr sz="1800">
                <a:solidFill>
                  <a:srgbClr val="CBD5E1"/>
                </a:solidFill>
              </a:defRPr>
            </a:pPr>
            <a:r>
              <a:t>Institutional Portfolio Risk-Return Analytics, Star Schema &amp; Recommender Suite</a:t>
            </a:r>
          </a:p>
          <a:p>
            <a:pPr>
              <a:spcBef>
                <a:spcPts val="4000"/>
              </a:spcBef>
              <a:defRPr sz="1400">
                <a:solidFill>
                  <a:srgbClr val="94A3B8"/>
                </a:solidFill>
              </a:defRPr>
            </a:pPr>
            <a:r>
              <a:t>Author: Ritvika Kulshreshtha | Date: August 2026 | Capstone Final Deliverable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Problem Statement &amp; Capstone Objectives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Addressing institutional analytics requirements in Indian Mutual Funds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1E3A8A"/>
                </a:solidFill>
              </a:defRPr>
            </a:pPr>
            <a:r>
              <a:t>• Industry Challenge: </a:t>
            </a:r>
            <a:r>
              <a:rPr b="0" sz="1400">
                <a:solidFill>
                  <a:srgbClr val="0F172A"/>
                </a:solidFill>
              </a:rPr>
              <a:t>Rapid expansion in retail SIP investments (reaching ₹31,002 Cr monthly inflow) demands scalable, automated data pipelines to evaluate risk-adjusted fund performance.</a:t>
            </a:r>
          </a:p>
          <a:p>
            <a:pPr>
              <a:spcAft>
                <a:spcPts val="800"/>
              </a:spcAft>
              <a:defRPr b="1" sz="1500">
                <a:solidFill>
                  <a:srgbClr val="1E3A8A"/>
                </a:solidFill>
              </a:defRPr>
            </a:pPr>
            <a:r>
              <a:t>• Data Heterogeneity: </a:t>
            </a:r>
            <a:r>
              <a:rPr b="0" sz="1400">
                <a:solidFill>
                  <a:srgbClr val="0F172A"/>
                </a:solidFill>
              </a:rPr>
              <a:t>Financial datasets are fragmented across raw NAV histories, investor transaction logs, portfolio stock holdings, and AMC AUM snapshots.</a:t>
            </a:r>
          </a:p>
          <a:p>
            <a:pPr>
              <a:spcAft>
                <a:spcPts val="800"/>
              </a:spcAft>
              <a:defRPr b="1" sz="1500">
                <a:solidFill>
                  <a:srgbClr val="1E3A8A"/>
                </a:solidFill>
              </a:defRPr>
            </a:pPr>
            <a:r>
              <a:t>• Capstone Objective 1: </a:t>
            </a:r>
            <a:r>
              <a:rPr b="0" sz="1400">
                <a:solidFill>
                  <a:srgbClr val="0F172A"/>
                </a:solidFill>
              </a:rPr>
              <a:t>Build automated ETL pipeline &amp; SQLite Star Schema database (bluestock_mf.db) with 100% row count parity.</a:t>
            </a:r>
          </a:p>
          <a:p>
            <a:pPr>
              <a:spcAft>
                <a:spcPts val="800"/>
              </a:spcAft>
              <a:defRPr b="1" sz="1500">
                <a:solidFill>
                  <a:srgbClr val="1E3A8A"/>
                </a:solidFill>
              </a:defRPr>
            </a:pPr>
            <a:r>
              <a:t>• Capstone Objective 2: </a:t>
            </a:r>
            <a:r>
              <a:rPr b="0" sz="1400">
                <a:solidFill>
                  <a:srgbClr val="0F172A"/>
                </a:solidFill>
              </a:rPr>
              <a:t>Compute quantitative performance metrics: CAGR, Sharpe Ratio, Sortino Ratio, OLS Alpha/Beta, and 95% VaR/CVaR.</a:t>
            </a:r>
          </a:p>
          <a:p>
            <a:pPr>
              <a:spcAft>
                <a:spcPts val="800"/>
              </a:spcAft>
              <a:defRPr b="1" sz="1500">
                <a:solidFill>
                  <a:srgbClr val="1E3A8A"/>
                </a:solidFill>
              </a:defRPr>
            </a:pPr>
            <a:r>
              <a:t>• Capstone Objective 3: </a:t>
            </a:r>
            <a:r>
              <a:rPr b="0" sz="1400">
                <a:solidFill>
                  <a:srgbClr val="0F172A"/>
                </a:solidFill>
              </a:rPr>
              <a:t>Establish a composite 0–100 Fund Scorecard rating and build an interactive Streamlit web dashboard with an automated fund recommender engine.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Data Sources &amp; Coverage Scope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Integration of Bluestock Capstone CSV datasets &amp; Live AMFI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2563EB"/>
                </a:solidFill>
              </a:defRPr>
            </a:pPr>
            <a:r>
              <a:t>✔ Fund Master (01_fund_master.csv): </a:t>
            </a:r>
            <a:r>
              <a:rPr b="0" sz="1400">
                <a:solidFill>
                  <a:srgbClr val="0F172A"/>
                </a:solidFill>
              </a:rPr>
              <a:t>40 Mutual Fund schemes across 10 major Fund Houses (AMCs) and SEBI sub-categories.</a:t>
            </a:r>
          </a:p>
          <a:p>
            <a:pPr>
              <a:spcAft>
                <a:spcPts val="800"/>
              </a:spcAft>
              <a:defRPr b="1" sz="1500">
                <a:solidFill>
                  <a:srgbClr val="2563EB"/>
                </a:solidFill>
              </a:defRPr>
            </a:pPr>
            <a:r>
              <a:t>✔ Daily NAV History (02_nav_history.csv): </a:t>
            </a:r>
            <a:r>
              <a:rPr b="0" sz="1400">
                <a:solidFill>
                  <a:srgbClr val="0F172A"/>
                </a:solidFill>
              </a:rPr>
              <a:t>64,320 daily Net Asset Value observations (2022–2026) forward-filled for trading continuity.</a:t>
            </a:r>
          </a:p>
          <a:p>
            <a:pPr>
              <a:spcAft>
                <a:spcPts val="800"/>
              </a:spcAft>
              <a:defRPr b="1" sz="1500">
                <a:solidFill>
                  <a:srgbClr val="2563EB"/>
                </a:solidFill>
              </a:defRPr>
            </a:pPr>
            <a:r>
              <a:t>✔ Investor Transactions (08_investor_transactions.csv): </a:t>
            </a:r>
            <a:r>
              <a:rPr b="0" sz="1400">
                <a:solidFill>
                  <a:srgbClr val="0F172A"/>
                </a:solidFill>
              </a:rPr>
              <a:t>32,778 transaction logs covering SIP, Lumpsum, and Redemption across state/city demographics.</a:t>
            </a:r>
          </a:p>
          <a:p>
            <a:pPr>
              <a:spcAft>
                <a:spcPts val="800"/>
              </a:spcAft>
              <a:defRPr b="1" sz="1500">
                <a:solidFill>
                  <a:srgbClr val="2563EB"/>
                </a:solidFill>
              </a:defRPr>
            </a:pPr>
            <a:r>
              <a:t>✔ Portfolio Holdings (09_portfolio_holdings.csv): </a:t>
            </a:r>
            <a:r>
              <a:rPr b="0" sz="1400">
                <a:solidFill>
                  <a:srgbClr val="0F172A"/>
                </a:solidFill>
              </a:rPr>
              <a:t>322 equity stock holding entries with sector breakdown and percentage weights.</a:t>
            </a:r>
          </a:p>
          <a:p>
            <a:pPr>
              <a:spcAft>
                <a:spcPts val="800"/>
              </a:spcAft>
              <a:defRPr b="1" sz="1500">
                <a:solidFill>
                  <a:srgbClr val="2563EB"/>
                </a:solidFill>
              </a:defRPr>
            </a:pPr>
            <a:r>
              <a:t>✔ Benchmark Indices (10_benchmark_indices.csv): </a:t>
            </a:r>
            <a:r>
              <a:rPr b="0" sz="1400">
                <a:solidFill>
                  <a:srgbClr val="0F172A"/>
                </a:solidFill>
              </a:rPr>
              <a:t>8,050 daily closing index records for NIFTY 50 and NIFTY 100 TRI.</a:t>
            </a:r>
          </a:p>
          <a:p>
            <a:pPr>
              <a:spcAft>
                <a:spcPts val="800"/>
              </a:spcAft>
              <a:defRPr b="1" sz="1500">
                <a:solidFill>
                  <a:srgbClr val="2563EB"/>
                </a:solidFill>
              </a:defRPr>
            </a:pPr>
            <a:r>
              <a:t>✔ Live NAV API (live_nav_fetch.py): </a:t>
            </a:r>
            <a:r>
              <a:rPr b="0" sz="1400">
                <a:solidFill>
                  <a:srgbClr val="0F172A"/>
                </a:solidFill>
              </a:rPr>
              <a:t>20,026 real-time NAV records ingested directly from mfapi.in API endpoints.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Data Engineering &amp; Star Schema Architecture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Dimensional modeling in SQLite (bluestock_mf.db) - Total 105,745 Rows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E3A8A"/>
                </a:solidFill>
              </a:defRPr>
            </a:pPr>
            <a:r>
              <a:t>Star Schema Structure: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Dimension Tables: dim_fund (40 schemes), dim_date (2,706 calendar dates).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Fact Tables: fact_nav (64,320 rows), fact_transactions (32,778 rows), fact_performance (40 rows), fact_aum (90 rows), fact_portfolio_holdings (322 rows), fact_benchmark (8,050 rows).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Data Integrity: Foreign Key constraints, CHECK constraints (nav &gt; 0, amount &gt; 0), and performance indexing on amfi_code and date.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Row Parity Verification: 100% match between clean CSV source files and SQLite DB tables.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Exploratory Data Analysis: NAV &amp; AUM Trends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NAV Growth Trajectory &amp; SBI AMC Dominance</a:t>
            </a:r>
          </a:p>
        </p:txBody>
      </p:sp>
      <p:pic>
        <p:nvPicPr>
          <p:cNvPr id="3" name="Picture 2" descr="01_nav_trend_all_sche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303520" cy="4389120"/>
          </a:xfrm>
          <a:prstGeom prst="rect">
            <a:avLst/>
          </a:prstGeom>
        </p:spPr>
      </p:pic>
      <p:pic>
        <p:nvPicPr>
          <p:cNvPr id="4" name="Picture 3" descr="02_aum_growth_fund_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2120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Exploratory Data Analysis: SIP Inflows &amp; Folios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Record SIP All-Time High &amp; Industry Folio Doubling</a:t>
            </a:r>
          </a:p>
        </p:txBody>
      </p:sp>
      <p:pic>
        <p:nvPicPr>
          <p:cNvPr id="3" name="Picture 2" descr="03_sip_inflow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303520" cy="4389120"/>
          </a:xfrm>
          <a:prstGeom prst="rect">
            <a:avLst/>
          </a:prstGeom>
        </p:spPr>
      </p:pic>
      <p:pic>
        <p:nvPicPr>
          <p:cNvPr id="4" name="Picture 3" descr="10_folio_growth_milest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2120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Fund Performance Analysis: Composite Scorecard (0–100)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Multi-factor weighted ranking across all 40 schemes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E3A8A"/>
                </a:solidFill>
              </a:defRPr>
            </a:pPr>
            <a:r>
              <a:t>Scorecard Weighting Formula:</a:t>
            </a:r>
          </a:p>
          <a:p>
            <a:pPr>
              <a:spcAft>
                <a:spcPts val="1200"/>
              </a:spcAft>
              <a:defRPr sz="1300">
                <a:solidFill>
                  <a:srgbClr val="2563EB"/>
                </a:solidFill>
              </a:defRPr>
            </a:pPr>
            <a:r>
              <a:t>Score = 30% x 3Yr CAGR Rank + 25% x Sharpe Rank + 20% x Alpha Rank + 15% x Expense Ratio (Inv) + 10% x Max DD (Inv)</a:t>
            </a:r>
          </a:p>
          <a:p>
            <a:pPr>
              <a:spcAft>
                <a:spcPts val="400"/>
              </a:spcAft>
              <a:defRPr b="1" sz="1400">
                <a:solidFill>
                  <a:srgbClr val="0F172A"/>
                </a:solidFill>
              </a:defRPr>
            </a:pPr>
            <a:r>
              <a:t>🏆 Rank #1: Bandhan Small Cap Fund: </a:t>
            </a:r>
            <a:r>
              <a:rPr b="0" sz="1300">
                <a:solidFill>
                  <a:srgbClr val="475569"/>
                </a:solidFill>
              </a:rPr>
              <a:t>Score: 100.0/100 | 3-Yr CAGR: 28.45% | Sharpe: 1.42 | Alpha: +8.24% | Expense: 0.45%</a:t>
            </a:r>
          </a:p>
          <a:p>
            <a:pPr>
              <a:spcAft>
                <a:spcPts val="400"/>
              </a:spcAft>
              <a:defRPr b="1" sz="1400">
                <a:solidFill>
                  <a:srgbClr val="0F172A"/>
                </a:solidFill>
              </a:defRPr>
            </a:pPr>
            <a:r>
              <a:t>🏆 Rank #2: ICICI Prudential Bluechip Fund: </a:t>
            </a:r>
            <a:r>
              <a:rPr b="0" sz="1300">
                <a:solidFill>
                  <a:srgbClr val="475569"/>
                </a:solidFill>
              </a:rPr>
              <a:t>Score: 96.82/100 | 3-Yr CAGR: 24.12% | Sharpe: 1.35 | Alpha: +6.15% | Expense: 0.92%</a:t>
            </a:r>
          </a:p>
          <a:p>
            <a:pPr>
              <a:spcAft>
                <a:spcPts val="400"/>
              </a:spcAft>
              <a:defRPr b="1" sz="1400">
                <a:solidFill>
                  <a:srgbClr val="0F172A"/>
                </a:solidFill>
              </a:defRPr>
            </a:pPr>
            <a:r>
              <a:t>🏆 Rank #3: Kotak Emerging Equity Fund: </a:t>
            </a:r>
            <a:r>
              <a:rPr b="0" sz="1300">
                <a:solidFill>
                  <a:srgbClr val="475569"/>
                </a:solidFill>
              </a:rPr>
              <a:t>Score: 94.15/100 | 3-Yr CAGR: 22.80% | Sharpe: 1.28 | Alpha: +5.42% | Expense: 0.58%</a:t>
            </a:r>
          </a:p>
          <a:p>
            <a:pPr>
              <a:spcAft>
                <a:spcPts val="400"/>
              </a:spcAft>
              <a:defRPr b="1" sz="1400">
                <a:solidFill>
                  <a:srgbClr val="0F172A"/>
                </a:solidFill>
              </a:defRPr>
            </a:pPr>
            <a:r>
              <a:t>🏆 Rank #4: SBI Large &amp; Midcap Fund: </a:t>
            </a:r>
            <a:r>
              <a:rPr b="0" sz="1300">
                <a:solidFill>
                  <a:srgbClr val="475569"/>
                </a:solidFill>
              </a:rPr>
              <a:t>Score: 91.48/100 | 3-Yr CAGR: 21.65% | Sharpe: 1.22 | Alpha: +4.88% | Expense: 0.78%</a:t>
            </a:r>
          </a:p>
          <a:p>
            <a:pPr>
              <a:spcAft>
                <a:spcPts val="400"/>
              </a:spcAft>
              <a:defRPr b="1" sz="1400">
                <a:solidFill>
                  <a:srgbClr val="0F172A"/>
                </a:solidFill>
              </a:defRPr>
            </a:pPr>
            <a:r>
              <a:t>🏆 Rank #5: ICICI Prudential Focused Equity: </a:t>
            </a:r>
            <a:r>
              <a:rPr b="0" sz="1300">
                <a:solidFill>
                  <a:srgbClr val="475569"/>
                </a:solidFill>
              </a:rPr>
              <a:t>Score: 88.92/100 | 3-Yr CAGR: 20.95% | Sharpe: 1.18 | Alpha: +4.35% | Expense: 0.85%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Performance Metrics: Benchmark Trajectory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3-Year Relative Growth: Top 5 Funds vs NIFTY 50 &amp; NIFTY 100</a:t>
            </a:r>
          </a:p>
        </p:txBody>
      </p:sp>
      <p:pic>
        <p:nvPicPr>
          <p:cNvPr id="3" name="Picture 2" descr="01_top5_vs_benchmarks_3y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18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Advanced Risk Modeling: Tail Risk &amp; Rolling Sharpe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Historical 95% VaR/CVaR &amp; 90-Day Rolling Risk Trajectory</a:t>
            </a:r>
          </a:p>
        </p:txBody>
      </p:sp>
      <p:pic>
        <p:nvPicPr>
          <p:cNvPr id="3" name="Picture 2" descr="rolling_shar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4864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92240" y="15544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E3A8A"/>
                </a:solidFill>
              </a:defRPr>
            </a:pPr>
            <a:r>
              <a:t>Historical 95% VaR &amp; CVaR: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Small Cap schemes exhibit highest 95% daily VaR (-2.45%) and CVaR (-3.12%).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Large Cap schemes display lower tail risk (VaR -1.76%, CVaR -2.35%).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Sortino Ratios average 1.85 vs Sharpe 1.25, confirming lower downside volatility vs total volatility.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Investor Cohorts &amp; Smart Recommender Engine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Behavioral segmentation, SIP continuity, and rule-based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1E3A8A"/>
                </a:solidFill>
              </a:defRPr>
            </a:pPr>
            <a:r>
              <a:t>✦ Investor Cohorts (2022–2025): </a:t>
            </a:r>
            <a:r>
              <a:rPr b="0" sz="1350">
                <a:solidFill>
                  <a:srgbClr val="0F172A"/>
                </a:solidFill>
              </a:rPr>
              <a:t>2023 &amp; 2024 cohorts contribute 68.5% of total accumulated SIP capital; average SIP ticket size increased from ₹4,250 to ₹5,500.</a:t>
            </a:r>
          </a:p>
          <a:p>
            <a:pPr>
              <a:spcAft>
                <a:spcPts val="800"/>
              </a:spcAft>
              <a:defRPr b="1" sz="1500">
                <a:solidFill>
                  <a:srgbClr val="1E3A8A"/>
                </a:solidFill>
              </a:defRPr>
            </a:pPr>
            <a:r>
              <a:t>✦ SIP Continuity &amp; Churn: </a:t>
            </a:r>
            <a:r>
              <a:rPr b="0" sz="1350">
                <a:solidFill>
                  <a:srgbClr val="0F172A"/>
                </a:solidFill>
              </a:rPr>
              <a:t>Repeat investors (6+ SIPs) demonstrate a 97.8% retention rate; only 2.2% flagged as 'at-risk' (&gt;35-day payment gap).</a:t>
            </a:r>
          </a:p>
          <a:p>
            <a:pPr>
              <a:spcAft>
                <a:spcPts val="800"/>
              </a:spcAft>
              <a:defRPr b="1" sz="1500">
                <a:solidFill>
                  <a:srgbClr val="1E3A8A"/>
                </a:solidFill>
              </a:defRPr>
            </a:pPr>
            <a:r>
              <a:t>✦ Sector HHI Concentration: </a:t>
            </a:r>
            <a:r>
              <a:rPr b="0" sz="1350">
                <a:solidFill>
                  <a:srgbClr val="0F172A"/>
                </a:solidFill>
              </a:rPr>
              <a:t>Average Herfindahl-Hirschman Index is 1,850 across equity portfolios (well-diversified). Concentrated sector funds exceed 2,500 HHI.</a:t>
            </a:r>
          </a:p>
          <a:p>
            <a:pPr>
              <a:spcAft>
                <a:spcPts val="800"/>
              </a:spcAft>
              <a:defRPr b="1" sz="1500">
                <a:solidFill>
                  <a:srgbClr val="1E3A8A"/>
                </a:solidFill>
              </a:defRPr>
            </a:pPr>
            <a:r>
              <a:t>✦ Smart Recommender Engine (recommender.py): </a:t>
            </a:r>
            <a:r>
              <a:rPr b="0" sz="1350">
                <a:solidFill>
                  <a:srgbClr val="0F172A"/>
                </a:solidFill>
              </a:rPr>
              <a:t>Modular rule-based engine matching user risk appetite (Low/Moderate/High) to top Sharpe-rated schemes with zero hardcoding.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Interactive Streamlit Web Dashboard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Multi-page Web Suite (dashboard/app.py)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2563EB"/>
                </a:solidFill>
              </a:defRPr>
            </a:pPr>
            <a:r>
              <a:t>💻 Executive Overview Tab: </a:t>
            </a:r>
            <a:r>
              <a:rPr b="0" sz="1350">
                <a:solidFill>
                  <a:srgbClr val="0F172A"/>
                </a:solidFill>
              </a:rPr>
              <a:t>Real-time industry KPIs (AUM, SIP Inflows, Folios) and market time-series visualizers.</a:t>
            </a:r>
          </a:p>
          <a:p>
            <a:pPr>
              <a:spcAft>
                <a:spcPts val="800"/>
              </a:spcAft>
              <a:defRPr b="1" sz="1500">
                <a:solidFill>
                  <a:srgbClr val="2563EB"/>
                </a:solidFill>
              </a:defRPr>
            </a:pPr>
            <a:r>
              <a:t>💻 Fund Scorecard Explorer: </a:t>
            </a:r>
            <a:r>
              <a:rPr b="0" sz="1350">
                <a:solidFill>
                  <a:srgbClr val="0F172A"/>
                </a:solidFill>
              </a:rPr>
              <a:t>Interactive filtering table sorting all 40 schemes by Scorecard Rating (0–100), AMC, and Category.</a:t>
            </a:r>
          </a:p>
          <a:p>
            <a:pPr>
              <a:spcAft>
                <a:spcPts val="800"/>
              </a:spcAft>
              <a:defRPr b="1" sz="1500">
                <a:solidFill>
                  <a:srgbClr val="2563EB"/>
                </a:solidFill>
              </a:defRPr>
            </a:pPr>
            <a:r>
              <a:t>💻 Risk-Return Modeling Tab: </a:t>
            </a:r>
            <a:r>
              <a:rPr b="0" sz="1350">
                <a:solidFill>
                  <a:srgbClr val="0F172A"/>
                </a:solidFill>
              </a:rPr>
              <a:t>Interactive Plotly scatter plots for CAGR vs Volatility, Alpha vs Beta, and VaR/CVaR reports.</a:t>
            </a:r>
          </a:p>
          <a:p>
            <a:pPr>
              <a:spcAft>
                <a:spcPts val="800"/>
              </a:spcAft>
              <a:defRPr b="1" sz="1500">
                <a:solidFill>
                  <a:srgbClr val="2563EB"/>
                </a:solidFill>
              </a:defRPr>
            </a:pPr>
            <a:r>
              <a:t>💻 SIP Future Value Calculator: </a:t>
            </a:r>
            <a:r>
              <a:rPr b="0" sz="1350">
                <a:solidFill>
                  <a:srgbClr val="0F172A"/>
                </a:solidFill>
              </a:rPr>
              <a:t>Custom SIP return calculator projecting total capital, wealth gains, and annual growth trajectory charts.</a:t>
            </a:r>
          </a:p>
          <a:p>
            <a:pPr>
              <a:spcAft>
                <a:spcPts val="800"/>
              </a:spcAft>
              <a:defRPr b="1" sz="1500">
                <a:solidFill>
                  <a:srgbClr val="2563EB"/>
                </a:solidFill>
              </a:defRPr>
            </a:pPr>
            <a:r>
              <a:t>💻 Smart Recommender UI: </a:t>
            </a:r>
            <a:r>
              <a:rPr b="0" sz="1350">
                <a:solidFill>
                  <a:srgbClr val="0F172A"/>
                </a:solidFill>
              </a:rPr>
              <a:t>Interactive risk-profile form generating live fund recommendation cards.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Strategic Recommendations &amp; Conclusion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Key takeaways for asset management companies and investors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1E3A8A"/>
                </a:solidFill>
              </a:defRPr>
            </a:pPr>
            <a:r>
              <a:t>🎯 Expand Digital Mandates in B30 Cities: </a:t>
            </a:r>
            <a:r>
              <a:rPr b="0" sz="1350">
                <a:solidFill>
                  <a:srgbClr val="0F172A"/>
                </a:solidFill>
              </a:rPr>
              <a:t>Beyond 30 urban centers show rapid SIP growth; digital mandate integration can accelerate retail penetration.</a:t>
            </a:r>
          </a:p>
          <a:p>
            <a:pPr>
              <a:spcAft>
                <a:spcPts val="1000"/>
              </a:spcAft>
              <a:defRPr b="1" sz="1500">
                <a:solidFill>
                  <a:srgbClr val="1E3A8A"/>
                </a:solidFill>
              </a:defRPr>
            </a:pPr>
            <a:r>
              <a:t>🎯 Promote Low Expense Ratio Schemes: </a:t>
            </a:r>
            <a:r>
              <a:rPr b="0" sz="1350">
                <a:solidFill>
                  <a:srgbClr val="0F172A"/>
                </a:solidFill>
              </a:rPr>
              <a:t>Low-cost schemes (&lt;0.80% expense ratio) achieved higher net 5-year CAGR; clear fee disclosure builds trust.</a:t>
            </a:r>
          </a:p>
          <a:p>
            <a:pPr>
              <a:spcAft>
                <a:spcPts val="1000"/>
              </a:spcAft>
              <a:defRPr b="1" sz="1500">
                <a:solidFill>
                  <a:srgbClr val="1E3A8A"/>
                </a:solidFill>
              </a:defRPr>
            </a:pPr>
            <a:r>
              <a:t>🎯 Implement Automated Churn Alerts: </a:t>
            </a:r>
            <a:r>
              <a:rPr b="0" sz="1350">
                <a:solidFill>
                  <a:srgbClr val="0F172A"/>
                </a:solidFill>
              </a:rPr>
              <a:t>AMCs should use 35-day payment gap tracking to trigger automated SMS/WhatsApp payment reminders.</a:t>
            </a:r>
          </a:p>
          <a:p>
            <a:pPr>
              <a:spcAft>
                <a:spcPts val="1000"/>
              </a:spcAft>
              <a:defRPr b="1" sz="1500">
                <a:solidFill>
                  <a:srgbClr val="1E3A8A"/>
                </a:solidFill>
              </a:defRPr>
            </a:pPr>
            <a:r>
              <a:t>🎯 Conclusion: </a:t>
            </a:r>
            <a:r>
              <a:rPr b="0" sz="1350">
                <a:solidFill>
                  <a:srgbClr val="0F172A"/>
                </a:solidFill>
              </a:rPr>
              <a:t>The Bluestock Mutual Fund Analytics Suite provides an end-to-end institutional platform from ETL ingestion to interactive web recommendations.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